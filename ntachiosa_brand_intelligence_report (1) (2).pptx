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Calibri"/>
              </a:rPr>
              <a:t>Comment &amp; Reply Sentiment (n=199)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6A4F"/>
              </a:solidFill>
              <a:effectLst/>
            </c:spPr>
          </c:dPt>
          <c:dPt>
            <c:idx val="1"/>
            <c:bubble3D val="0"/>
            <c:spPr>
              <a:solidFill>
                <a:srgbClr val="9CA3AF"/>
              </a:solidFill>
              <a:effectLst/>
            </c:spPr>
          </c:dPt>
          <c:dPt>
            <c:idx val="2"/>
            <c:bubble3D val="0"/>
            <c:spPr>
              <a:solidFill>
                <a:srgbClr val="C1440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124</c:v>
                </c:pt>
                <c:pt idx="1">
                  <c:v>73</c:v>
                </c:pt>
                <c:pt idx="2">
                  <c:v>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Comments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B4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822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B8FB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C6F9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A4B38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Neutral / Informational</c:v>
                  </c:pt>
                  <c:pt idx="1">
                    <c:v>Amusement / Humor</c:v>
                  </c:pt>
                  <c:pt idx="2">
                    <c:v>Joy / Excitement</c:v>
                  </c:pt>
                  <c:pt idx="3">
                    <c:v>Love / Affection</c:v>
                  </c:pt>
                  <c:pt idx="4">
                    <c:v>Trust / Admiration</c:v>
                  </c:pt>
                  <c:pt idx="5">
                    <c:v>Anticipation / Desire (Expansion)</c:v>
                  </c:pt>
                  <c:pt idx="6">
                    <c:v>Curiosity / Inquiry</c:v>
                  </c:pt>
                  <c:pt idx="7">
                    <c:v>Sadness / Longing</c:v>
                  </c:pt>
                  <c:pt idx="8">
                    <c:v>Skepticism / Mild Frustration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62</c:v>
                </c:pt>
                <c:pt idx="1">
                  <c:v>58</c:v>
                </c:pt>
                <c:pt idx="2">
                  <c:v>22</c:v>
                </c:pt>
                <c:pt idx="3">
                  <c:v>17</c:v>
                </c:pt>
                <c:pt idx="4">
                  <c:v>16</c:v>
                </c:pt>
                <c:pt idx="5">
                  <c:v>12</c:v>
                </c:pt>
                <c:pt idx="6">
                  <c:v>9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Entities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6A4F"/>
              </a:solidFill>
              <a:effectLst/>
            </c:spPr>
          </c:dPt>
          <c:dPt>
            <c:idx val="1"/>
            <c:bubble3D val="0"/>
            <c:spPr>
              <a:solidFill>
                <a:srgbClr val="5B8FB9"/>
              </a:solidFill>
              <a:effectLst/>
            </c:spPr>
          </c:dPt>
          <c:dPt>
            <c:idx val="2"/>
            <c:bubble3D val="0"/>
            <c:spPr>
              <a:solidFill>
                <a:srgbClr val="D9822B"/>
              </a:solidFill>
              <a:effectLst/>
            </c:spPr>
          </c:dPt>
          <c:dPt>
            <c:idx val="3"/>
            <c:bubble3D val="0"/>
            <c:spPr>
              <a:solidFill>
                <a:srgbClr val="E9B44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LOCATION</c:v>
                </c:pt>
                <c:pt idx="1">
                  <c:v>HANDLE</c:v>
                </c:pt>
                <c:pt idx="2">
                  <c:v>FOOD/MENU</c:v>
                </c:pt>
                <c:pt idx="3">
                  <c:v>BRAND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58</c:v>
                </c:pt>
                <c:pt idx="1">
                  <c:v>41</c:v>
                </c:pt>
                <c:pt idx="2">
                  <c:v>29</c:v>
                </c:pt>
                <c:pt idx="3">
                  <c:v>17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Gra</c:v>
                  </c:pt>
                  <c:pt idx="1">
                    <c:v>Enugu</c:v>
                  </c:pt>
                  <c:pt idx="2">
                    <c:v>Agbani</c:v>
                  </c:pt>
                  <c:pt idx="3">
                    <c:v>Park Avenue</c:v>
                  </c:pt>
                  <c:pt idx="4">
                    <c:v>Abakpa</c:v>
                  </c:pt>
                  <c:pt idx="5">
                    <c:v>Parklane</c:v>
                  </c:pt>
                  <c:pt idx="6">
                    <c:v>Asaba</c:v>
                  </c:pt>
                  <c:pt idx="7">
                    <c:v>Nsukka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</c:v>
                </c:pt>
                <c:pt idx="1">
                  <c:v>9</c:v>
                </c:pt>
                <c:pt idx="2">
                  <c:v>8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A1A1A"/>
                </a:solidFill>
                <a:latin typeface="Calibri"/>
              </a:rPr>
              <a:t>Named dish / product mentions across comments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Basmati</c:v>
                  </c:pt>
                  <c:pt idx="1">
                    <c:v>Fried Rice</c:v>
                  </c:pt>
                  <c:pt idx="2">
                    <c:v>Achicha</c:v>
                  </c:pt>
                  <c:pt idx="3">
                    <c:v>Cow Tail</c:v>
                  </c:pt>
                  <c:pt idx="4">
                    <c:v>Shawarma</c:v>
                  </c:pt>
                  <c:pt idx="5">
                    <c:v>Goat Meat</c:v>
                  </c:pt>
                  <c:pt idx="6">
                    <c:v>Curry Powder</c:v>
                  </c:pt>
                  <c:pt idx="7">
                    <c:v>Ukwa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Word-level distribution (approximate)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D2C5"/>
              </a:solidFill>
              <a:effectLst/>
            </c:spPr>
          </c:dPt>
          <c:dPt>
            <c:idx val="1"/>
            <c:bubble3D val="0"/>
            <c:spPr>
              <a:solidFill>
                <a:srgbClr val="B7B7A4"/>
              </a:solidFill>
              <a:effectLst/>
            </c:spPr>
          </c:dPt>
          <c:dPt>
            <c:idx val="2"/>
            <c:bubble3D val="0"/>
            <c:spPr>
              <a:solidFill>
                <a:srgbClr val="2D6A4F"/>
              </a:solidFill>
              <a:effectLst/>
            </c:spPr>
          </c:dPt>
          <c:dPt>
            <c:idx val="3"/>
            <c:bubble3D val="0"/>
            <c:spPr>
              <a:solidFill>
                <a:srgbClr val="D9822B"/>
              </a:solidFill>
              <a:effectLst/>
            </c:spPr>
          </c:dPt>
          <c:dPt>
            <c:idx val="4"/>
            <c:bubble3D val="0"/>
            <c:spPr>
              <a:solidFill>
                <a:srgbClr val="1B4332"/>
              </a:solidFill>
              <a:effectLst/>
            </c:spPr>
          </c:dPt>
          <c:dPt>
            <c:idx val="5"/>
            <c:bubble3D val="0"/>
            <c:spPr>
              <a:solidFill>
                <a:srgbClr val="E9B44C"/>
              </a:solidFill>
              <a:effectLst/>
            </c:spPr>
          </c:dPt>
          <c:dPt>
            <c:idx val="6"/>
            <c:bubble3D val="0"/>
            <c:spPr>
              <a:solidFill>
                <a:srgbClr val="5B8FB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Other/Unclassified</c:v>
                </c:pt>
                <c:pt idx="1">
                  <c:v>Function word</c:v>
                </c:pt>
                <c:pt idx="2">
                  <c:v>Noun</c:v>
                </c:pt>
                <c:pt idx="3">
                  <c:v>Adjective</c:v>
                </c:pt>
                <c:pt idx="4">
                  <c:v>Verb</c:v>
                </c:pt>
                <c:pt idx="5">
                  <c:v>Interjection</c:v>
                </c:pt>
                <c:pt idx="6">
                  <c:v>Pronoun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385</c:v>
                </c:pt>
                <c:pt idx="1">
                  <c:v>294</c:v>
                </c:pt>
                <c:pt idx="2">
                  <c:v>98</c:v>
                </c:pt>
                <c:pt idx="3">
                  <c:v>46</c:v>
                </c:pt>
                <c:pt idx="4">
                  <c:v>35</c:v>
                </c:pt>
                <c:pt idx="5">
                  <c:v>16</c:v>
                </c:pt>
                <c:pt idx="6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5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likes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Positive</c:v>
                  </c:pt>
                  <c:pt idx="1">
                    <c:v>Neutral</c:v>
                  </c:pt>
                  <c:pt idx="2">
                    <c:v>Negative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2.32</c:v>
                </c:pt>
                <c:pt idx="1">
                  <c:v>1.05</c:v>
                </c:pt>
                <c:pt idx="2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Customer comments</c:v>
                  </c:pt>
                  <c:pt idx="1">
                    <c:v>Brand replies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</c:v>
                </c:pt>
                <c:pt idx="1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Customer comments</c:v>
                  </c:pt>
                  <c:pt idx="1">
                    <c:v>Brand replies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61</c:v>
                </c:pt>
                <c:pt idx="1">
                  <c:v>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Customer comments</c:v>
                  </c:pt>
                  <c:pt idx="1">
                    <c:v>Brand replies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2926080" cy="2926080"/>
          </a:xfrm>
          <a:prstGeom prst="ellipse">
            <a:avLst/>
          </a:prstGeom>
          <a:solidFill>
            <a:srgbClr val="24573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SOCIAL LISTENING &amp; BRAND INTELLIGENCE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Ntachiosa Restaurant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Comment Sentiment, Emotion &amp; Brand Perception Report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3520440"/>
            <a:ext cx="2926080" cy="0"/>
          </a:xfrm>
          <a:prstGeom prst="line">
            <a:avLst/>
          </a:prstGeom>
          <a:noFill/>
          <a:ln w="25400">
            <a:solidFill>
              <a:srgbClr val="E9B4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88620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Ntachiosa Leadership Team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Instagram comments &amp; replies across multiple posts (deduplicated)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&amp; rule-based sentiment, emotion, NER and POS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brand that customers love — and are actively asking to grow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7F3E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64792"/>
            <a:ext cx="128016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46504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62.3%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2468880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sentiment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comments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46704" y="160020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7F3EC"/>
          </a:solidFill>
          <a:ln/>
        </p:spPr>
      </p:sp>
      <p:sp>
        <p:nvSpPr>
          <p:cNvPr id="9" name="Shape 7"/>
          <p:cNvSpPr/>
          <p:nvPr/>
        </p:nvSpPr>
        <p:spPr>
          <a:xfrm>
            <a:off x="3511296" y="1764792"/>
            <a:ext cx="128016" cy="45720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10" name="Text 8"/>
          <p:cNvSpPr/>
          <p:nvPr/>
        </p:nvSpPr>
        <p:spPr>
          <a:xfrm>
            <a:off x="3438144" y="1746504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47872" y="2468880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&amp; replies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44768" y="160020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7F3EC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764792"/>
            <a:ext cx="128016" cy="457200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14" name="Text 12"/>
          <p:cNvSpPr/>
          <p:nvPr/>
        </p:nvSpPr>
        <p:spPr>
          <a:xfrm>
            <a:off x="6236208" y="1746504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345936" y="2468880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driven by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Amusement / Humor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42832" y="160020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7F3EC"/>
          </a:solidFill>
          <a:ln/>
        </p:spPr>
      </p:sp>
      <p:sp>
        <p:nvSpPr>
          <p:cNvPr id="17" name="Shape 15"/>
          <p:cNvSpPr/>
          <p:nvPr/>
        </p:nvSpPr>
        <p:spPr>
          <a:xfrm>
            <a:off x="9107424" y="1764792"/>
            <a:ext cx="128016" cy="457200"/>
          </a:xfrm>
          <a:prstGeom prst="rect">
            <a:avLst/>
          </a:prstGeom>
          <a:solidFill>
            <a:srgbClr val="5B8FB9"/>
          </a:solidFill>
          <a:ln/>
        </p:spPr>
      </p:sp>
      <p:sp>
        <p:nvSpPr>
          <p:cNvPr id="18" name="Text 16"/>
          <p:cNvSpPr/>
          <p:nvPr/>
        </p:nvSpPr>
        <p:spPr>
          <a:xfrm>
            <a:off x="9034272" y="1746504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B8F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144000" y="2468880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call-outs —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expansion demand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977640"/>
            <a:ext cx="78638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sentiment (62.3%) overwhelms negative (1.0%); the remaining 36.7% is neutral, informational chatter (quiz answers, addresses, logistics) rather than dissatisfaction.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largest emotional driver — after routine informational comments — is Amusement/Humor (29.1%), followed by Joy/Excitement and Love/Affection: this is a community that enjoys the brand, not just consumes it.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distinct location mentions surfaced organically, with repeat, unprompted requests to “come to” specific neighbourhoods and cities — a free, crowdsourced expansion roadmap.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replies (52 logged) are 100% Positive or Neutral in tone — zero defensive or negative replies — reflecting disciplined, on-brand community management.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732520" y="3611880"/>
            <a:ext cx="2880360" cy="2834640"/>
          </a:xfrm>
          <a:prstGeom prst="roundRect">
            <a:avLst>
              <a:gd name="adj" fmla="val 2581"/>
            </a:avLst>
          </a:prstGeom>
          <a:solidFill>
            <a:srgbClr val="1B4332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0" y="4114800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Ntachiosa has strong, organic brand love in Enugu and a vocal audience actively pulling it toward new cities. The opportunity is to convert social goodwill into a structured growth engine.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NTACHIOSA  |  BRAND INTELLIGENCE REPORT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report was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548640" y="22219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587752"/>
            <a:ext cx="2651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comment screenshots were manually transcribed from multiple Ntachiosa posts (branch launches, contests, reposts by third-party pages). Duplicate screenshots were identified and removed.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600200"/>
            <a:ext cx="502920" cy="50292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3429000" y="22219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2587752"/>
            <a:ext cx="2651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lexicon of positive/negative words and emojis, tuned to Nigerian Pidgin &amp; English social-media usage, classifies each comment as Positive, Neutral or Negative.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600200"/>
            <a:ext cx="502920" cy="5029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6309360" y="22219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 detection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587752"/>
            <a:ext cx="2651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are mapped to 9 emotion categories (e.g. Amusement, Trust, Anticipation) using contextual keyword and emoji signals.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89720" y="1600200"/>
            <a:ext cx="502920" cy="502920"/>
          </a:xfrm>
          <a:prstGeom prst="ellipse">
            <a:avLst/>
          </a:prstGeom>
          <a:solidFill>
            <a:srgbClr val="5B8FB9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9189720" y="22219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 &amp; POS tagging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89720" y="2587752"/>
            <a:ext cx="2651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Named-Entity Recognition extracts locations, food items, brand mentions and @handles. Parts-of-speech distribution is estimated via a keyword-lexicon tagger.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064240" cy="2057400"/>
          </a:xfrm>
          <a:prstGeom prst="roundRect">
            <a:avLst>
              <a:gd name="adj" fmla="val 3556"/>
            </a:avLst>
          </a:prstGeom>
          <a:solidFill>
            <a:srgbClr val="F7F3E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honest limitations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526280"/>
            <a:ext cx="10424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of 199 comments/replies from the screenshots supplied — a slice of activity, not the full comment population on every post.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internet-connected NLP service was available in this environment; classification is lexicon/rule-based rather than a trained machine-learning model, tuned specifically to this corpus's Pidgin/English/Igbo mix.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 is an approximate, keyword-based estimate intended to show broad language-style patterns (e.g. how expressive vs. transactional the conversation is) — not a linguistically exhaustive parse.</a:t>
            </a:r>
            <a:endParaRPr lang="en-US" sz="115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should be read directionally (“where is sentiment concentrated, what are people asking for”) rather than as lab-grade NLP benchmarks.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NTACHIOSA  |  BRAND INTELLIGENCE REPORT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Overwhelmingly positive, with almost no negative signal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737360"/>
            <a:ext cx="5623560" cy="777240"/>
          </a:xfrm>
          <a:prstGeom prst="roundRect">
            <a:avLst>
              <a:gd name="adj" fmla="val 7059"/>
            </a:avLst>
          </a:prstGeom>
          <a:solidFill>
            <a:srgbClr val="F7F3EC"/>
          </a:solidFill>
          <a:ln/>
        </p:spPr>
      </p:sp>
      <p:sp>
        <p:nvSpPr>
          <p:cNvPr id="6" name="Shape 3"/>
          <p:cNvSpPr/>
          <p:nvPr/>
        </p:nvSpPr>
        <p:spPr>
          <a:xfrm>
            <a:off x="5989320" y="1737360"/>
            <a:ext cx="109728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1810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63640" y="20299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62.3%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989320" y="2697480"/>
            <a:ext cx="5623560" cy="777240"/>
          </a:xfrm>
          <a:prstGeom prst="roundRect">
            <a:avLst>
              <a:gd name="adj" fmla="val 7059"/>
            </a:avLst>
          </a:prstGeom>
          <a:solidFill>
            <a:srgbClr val="F7F3EC"/>
          </a:solidFill>
          <a:ln/>
        </p:spPr>
      </p:sp>
      <p:sp>
        <p:nvSpPr>
          <p:cNvPr id="10" name="Shape 7"/>
          <p:cNvSpPr/>
          <p:nvPr/>
        </p:nvSpPr>
        <p:spPr>
          <a:xfrm>
            <a:off x="5989320" y="2697480"/>
            <a:ext cx="109728" cy="77724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2770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63640" y="29900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36.7%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989320" y="3657600"/>
            <a:ext cx="5623560" cy="777240"/>
          </a:xfrm>
          <a:prstGeom prst="roundRect">
            <a:avLst>
              <a:gd name="adj" fmla="val 7059"/>
            </a:avLst>
          </a:prstGeom>
          <a:solidFill>
            <a:srgbClr val="F7F3EC"/>
          </a:solidFill>
          <a:ln/>
        </p:spPr>
      </p:sp>
      <p:sp>
        <p:nvSpPr>
          <p:cNvPr id="14" name="Shape 11"/>
          <p:cNvSpPr/>
          <p:nvPr/>
        </p:nvSpPr>
        <p:spPr>
          <a:xfrm>
            <a:off x="5989320" y="3657600"/>
            <a:ext cx="109728" cy="777240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3730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63640" y="39502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989320" y="47091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neutral share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89320" y="502920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36.7% “neutral” share is dominated by transactional exchanges — quiz-contest answers (“A”, “C”), addresses, and logistics questions — not lukewarm sentiment. It reflects an actively engaged, game-playing community rather than indifference.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NTACHIOSA  |  BRAND INTELLIGENCE REPORT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emotional signatures found in the conversation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740664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508760"/>
            <a:ext cx="3520440" cy="4709160"/>
          </a:xfrm>
          <a:prstGeom prst="roundRect">
            <a:avLst>
              <a:gd name="adj" fmla="val 2078"/>
            </a:avLst>
          </a:prstGeom>
          <a:solidFill>
            <a:srgbClr val="F7F3EC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1691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21040" y="2057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Amusement / Humor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321040" y="231343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emotional driver (29%). Pidgin banter, memes, and self-deprecating jokes about portion sizes dominate replies to reposts.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8321040" y="31089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/ Excitement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321040" y="33649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emojis, celebratory language — concentrated around giveaways, contests and new-branch news.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8321040" y="41605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/ Admiration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321040" y="441655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“Correct customer”, “Since day 1” — loyal repeat customers publicly vouching for the brand.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8321040" y="5212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Anticipation / Desire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321040" y="546811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“Come to…” requests — a direct, unprompted signal of expansion demand.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NTACHIOSA  |  BRAND INTELLIGENCE REPORT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Who, where and what customers are talking about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types mentioned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73736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9834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= @mentions/tags (organic sharing)   •   LOCATION = places named   •   FOOD/MENU = dishes named   •   BRAND = direct “Ntachi(osa)” mentions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035040" y="14173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locations named (expansion signal)</a:t>
            </a:r>
            <a:endParaRPr lang="en-US" sz="15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897880" y="1737360"/>
          <a:ext cx="57607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NTACHIOSA  |  BRAND INTELLIGENCE REPORT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MENU SIGNALS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winning fans on the menu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6751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54480"/>
            <a:ext cx="4206240" cy="4663440"/>
          </a:xfrm>
          <a:prstGeom prst="roundRect">
            <a:avLst>
              <a:gd name="adj" fmla="val 1739"/>
            </a:avLst>
          </a:prstGeom>
          <a:solidFill>
            <a:srgbClr val="1B4332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FAN-FAVOURITE SIGNALS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80960" y="21945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Basmati Fried Rice is the most-guessed, most-hyped single dish — a clear flagship-menu candidate.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680960" y="3063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Achicha (“Ntachi achicha”) carries strong nostalgic loyalty — customers explicitly say they “miss” it.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80960" y="3931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Shawarma anchors the brand's original identity (“Best Shawarma joint in Enugu”) and drives tag-a-friend sharing.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680960" y="48006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tail, goat meat, curry powder and uziza leaf mentions come from recurring “guess the ingredient” contests — a proven, repeatable engagement format.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NTACHIOSA  |  BRAND INTELLIGENCE REPORT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PARTS-OF-SPEECH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people talk about Ntachiosa: expressive, not transactional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7F3EC"/>
          </a:solidFill>
          <a:ln/>
        </p:spPr>
      </p:sp>
      <p:sp>
        <p:nvSpPr>
          <p:cNvPr id="6" name="Text 3"/>
          <p:cNvSpPr/>
          <p:nvPr/>
        </p:nvSpPr>
        <p:spPr>
          <a:xfrm>
            <a:off x="6492240" y="17556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92240" y="214884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8000"/>
              </a:lnSpc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(11.2%) skew heavily toward places and dishes — Ntachi, GRA, Enugu, road, rice — confirming the conversation is concrete and location/product-anchored, not abstract praise.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92240" y="315468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8000"/>
              </a:lnSpc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Adjectives (5.3%) are almost entirely positive in valence — beautiful, correct, real, affordable, best — reinforcing the sentiment findings from a different angle.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92240" y="416052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8000"/>
              </a:lnSpc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Interjections (1.8%) and the large “Other/Unclassified” share include heavy emoji and Pidgin/Igbo expression use (“biko”, “abeg”, “oya”) that a standard English POS tagger would miss entirely — evidence of a warm, informal, community-voice tone rather than customer-service formality.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92240" y="516636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8000"/>
              </a:lnSpc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words (33.6%) are largely tags and mentions (“@” chains) rather than filler — consistent with the high organic-sharing behaviour seen in the NER results.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NTACHIOSA  |  BRAND INTELLIGENCE REPORT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Positivity is rewarded with engagement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likes per comment, by sentiment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783080"/>
          <a:ext cx="5394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12648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vs. customer sentiment mix</a:t>
            </a:r>
            <a:endParaRPr lang="en-US" sz="15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989320" y="1783080"/>
          <a:ext cx="5623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NTACHIOSA  |  BRAND INTELLIGENCE REPORT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summary and qualitative reading, side by 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F7F3E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62.3% Positive / 36.7% Neutral / 1.0% Negative sentiment (n=199).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Amusement/Humor (29.1%) and Joy/Excitement (11.1%) are the two largest active emotions after routine informational comments.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location mentions, 41 @handle tags, 29 food/menu mentions, 17 direct brand mentions.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comments earn 2.32 average likes vs. 1.05 for neutral — a 2.2x engagement premium.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logged brand replies (52) are Positive or Neutral — 0% negative/defensive.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requested new locations: Agbani Road, Abakpa, Asaba, Nsukka, Abakaliki, plus aspirational Lagos, Abuja, PH and Anambra mentions.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642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NON-STATISTICAL / QUALITATIVE READING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46520" y="2084832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comment culture is playful and communal — heavy Pidgin/Igbo banter, inside jokes, and quiz-style contests define the tone, not formal reviews.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speak of the brand as a trusted local institution (“Constantly saving lives”, “Ndi Enugu are goated!”) — strong word-of-mouth equity in Enugu.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“Come to…” comments function as free, organic market-demand signals — customers are doing informal expansion research for the brand.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brand's short, warm, near-universal reply habit reads as personal rather than corporate-distant, and customers notice and reciprocate it.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skepticism/humor around portion size and “too good to be true” affordability appears occasionally — not a threat, but worth pre-empting with transparent messaging.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NTACHIOSA  |  BRAND INTELLIGENCE REPORT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24573D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572000"/>
            <a:ext cx="3840480" cy="3840480"/>
          </a:xfrm>
          <a:prstGeom prst="ellipse">
            <a:avLst/>
          </a:prstGeom>
          <a:solidFill>
            <a:srgbClr val="24573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FINDING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Amusement + Anticipation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single thread running through the entire comment corpus.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1F5038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3136392"/>
            <a:ext cx="457200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918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59359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0120" y="425196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62.3% of all comments — with negativity essentially absent (1.0%).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288036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1F5038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3136392"/>
            <a:ext cx="457200" cy="82296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32918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59359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Amusement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425196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active emotion (29.1%) — customers enjoy engaging with the brand, not just buying from it.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288036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1F5038"/>
          </a:solidFill>
          <a:ln/>
        </p:spPr>
      </p:sp>
      <p:sp>
        <p:nvSpPr>
          <p:cNvPr id="18" name="Shape 16"/>
          <p:cNvSpPr/>
          <p:nvPr/>
        </p:nvSpPr>
        <p:spPr>
          <a:xfrm>
            <a:off x="8366760" y="3136392"/>
            <a:ext cx="457200" cy="82296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32918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66760" y="359359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Anticipation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66760" y="425196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Repeated, unprompted “come to…” requests show demand is pulling the brand outward.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NTACHIOSA  |  BRAND INTELLIGENCE REPORT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FORWARD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growth roadmap built from the brand's own comment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7F3EC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6184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61848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expansion by demand, not guesswork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17320" y="2002536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Agbani Road (highest repeat demand), then Abakpa, Asaba, Nsukka and Abakaliki; treat Lagos, Abuja and Port Harcourt as flagship diaspora launches once the Enugu cluster is saturated.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7F3EC"/>
          </a:solidFill>
          <a:ln/>
        </p:spPr>
      </p:sp>
      <p:sp>
        <p:nvSpPr>
          <p:cNvPr id="9" name="Text 7"/>
          <p:cNvSpPr/>
          <p:nvPr/>
        </p:nvSpPr>
        <p:spPr>
          <a:xfrm>
            <a:off x="6382512" y="16184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32320" y="161848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the contest mechanic into a loyalty programme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002536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“Guess the ingredient” and voting contests already drive high tagging/sharing (41 @handle mentions). Turn it into a recurring points-and-rewards programme with clear, published rules.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7F3EC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32186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21868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testimonials as structured social proof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417320" y="3602736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like “Constantly saving lives” and “Ndi Enugu are goated” are ready-made brand endorsements — repost them as testimonial graphics rather than letting them sit in comment threads.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10896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7F3EC"/>
          </a:solidFill>
          <a:ln/>
        </p:spPr>
      </p:sp>
      <p:sp>
        <p:nvSpPr>
          <p:cNvPr id="17" name="Text 15"/>
          <p:cNvSpPr/>
          <p:nvPr/>
        </p:nvSpPr>
        <p:spPr>
          <a:xfrm>
            <a:off x="6382512" y="32186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8F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32320" y="321868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reply culture as the brand scales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32320" y="3602736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100%-positive/neutral, near-universal reply habit is a measurable asset. Set a formal community-management SLA (e.g. reply within 24 hours) so the tone survives multi-city growth.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70916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7F3EC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48188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4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481888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 price/portion skepticism with transparency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417320" y="5202936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“Una no real” / portion-size jokes are low-risk today but can compound at scale — publish clear pricing and portion info alongside contest content.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470916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7F3EC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48188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6F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32320" y="481888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flagship dishes in campaigns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32320" y="5202936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Basmati Fried Rice, Achicha and Shawarma have the strongest organic fan pull — build a recurring “flagship dish of the month” content series around them.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NTACHIOSA  |  BRAND INTELLIGENCE REPORT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GROWTH LEVERS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beyond the immediate roadmap worth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20440" cy="2331720"/>
          </a:xfrm>
          <a:prstGeom prst="roundRect">
            <a:avLst>
              <a:gd name="adj" fmla="val 2745"/>
            </a:avLst>
          </a:prstGeom>
          <a:solidFill>
            <a:srgbClr val="F7F3E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sentiment tracking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this framework every quarter to turn today's snapshot into a trend line — a simple, low-cost brand-health KPI as the company scales.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554480"/>
            <a:ext cx="3520440" cy="2331720"/>
          </a:xfrm>
          <a:prstGeom prst="roundRect">
            <a:avLst>
              <a:gd name="adj" fmla="val 2745"/>
            </a:avLst>
          </a:prstGeom>
          <a:solidFill>
            <a:srgbClr val="F7F3EC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783080"/>
            <a:ext cx="502920" cy="50292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4480560" y="24231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Localised Pidgin/Igbo marketing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80560" y="2926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brand's audience already engages more warmly in Pidgin/Igbo than formal English — lean into it deliberately in captions and ads rather than only in replies.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1554480"/>
            <a:ext cx="3520440" cy="2331720"/>
          </a:xfrm>
          <a:prstGeom prst="roundRect">
            <a:avLst>
              <a:gd name="adj" fmla="val 2745"/>
            </a:avLst>
          </a:prstGeom>
          <a:solidFill>
            <a:srgbClr val="F7F3E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783080"/>
            <a:ext cx="502920" cy="5029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8229600" y="24231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referral / tag-a-friend programme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0" y="2926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Friend-tagging is already happening for free in comments — add a small referral incentive to convert it into a trackable acquisition channel.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114800"/>
            <a:ext cx="3520440" cy="2331720"/>
          </a:xfrm>
          <a:prstGeom prst="roundRect">
            <a:avLst>
              <a:gd name="adj" fmla="val 2745"/>
            </a:avLst>
          </a:prstGeom>
          <a:solidFill>
            <a:srgbClr val="F7F3EC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343400"/>
            <a:ext cx="502920" cy="502920"/>
          </a:xfrm>
          <a:prstGeom prst="ellipse">
            <a:avLst/>
          </a:prstGeom>
          <a:solidFill>
            <a:srgbClr val="5B8FB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31520" y="4983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with comedy/lifestyle pages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1520" y="54864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third-party meme/comedy page has organically reposted Ntachiosa content and driven high engagement — proactively seed similar creator partnerships.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4114800"/>
            <a:ext cx="3520440" cy="2331720"/>
          </a:xfrm>
          <a:prstGeom prst="roundRect">
            <a:avLst>
              <a:gd name="adj" fmla="val 2745"/>
            </a:avLst>
          </a:prstGeom>
          <a:solidFill>
            <a:srgbClr val="F7F3EC"/>
          </a:solidFill>
          <a:ln/>
        </p:spPr>
      </p:sp>
      <p:sp>
        <p:nvSpPr>
          <p:cNvPr id="25" name="Shape 23"/>
          <p:cNvSpPr/>
          <p:nvPr/>
        </p:nvSpPr>
        <p:spPr>
          <a:xfrm>
            <a:off x="4480560" y="4343400"/>
            <a:ext cx="502920" cy="502920"/>
          </a:xfrm>
          <a:prstGeom prst="ellipse">
            <a:avLst/>
          </a:prstGeom>
          <a:solidFill>
            <a:srgbClr val="8A4B38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4480560" y="4983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Expansion-demand CRM tag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80560" y="54864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“come to…” comment against a location field to build a living, data-backed heat-map for site-selection decisions.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01000" y="4114800"/>
            <a:ext cx="3520440" cy="2331720"/>
          </a:xfrm>
          <a:prstGeom prst="roundRect">
            <a:avLst>
              <a:gd name="adj" fmla="val 2745"/>
            </a:avLst>
          </a:prstGeom>
          <a:solidFill>
            <a:srgbClr val="F7F3EC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0" y="4343400"/>
            <a:ext cx="502920" cy="502920"/>
          </a:xfrm>
          <a:prstGeom prst="ellipse">
            <a:avLst/>
          </a:prstGeom>
          <a:solidFill>
            <a:srgbClr val="7C6F9B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8229600" y="4983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post-purchase NPS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29600" y="54864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one-tap satisfaction prompt after delivery/pickup would convert anecdotal comment sentiment into a trackable, statistically robust metric.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NTACHIOSA  |  BRAND INTELLIGENCE REPORT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114800" cy="4114800"/>
          </a:xfrm>
          <a:prstGeom prst="ellipse">
            <a:avLst/>
          </a:prstGeom>
          <a:solidFill>
            <a:srgbClr val="2457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notes &amp; next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5212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total records analysed (147 customer comments, 52 brand replies)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source screenshots logged; duplicate screenshots identified and excluded before analysis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span multiple posts: branch-opening announcements, ingredient-guessing contests, a meme/cruise-challenge post, and a third-party repost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comment-level detail, source log and role tagging (customer vs. brand) available in the companion spreadsheet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084832"/>
            <a:ext cx="5212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top expansion signals (Agbani Road, Abakpa) against footfall/delivery-radius data before committing capital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loyalty-programme concept on the existing contest format for one quarter and measure repeat engagement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this analysis on a larger, platform-exported comment set (rather than manually curated screenshots) for statistically representative figures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this report with the marketing and operations teams as a joint planning input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5257800"/>
            <a:ext cx="10698480" cy="0"/>
          </a:xfrm>
          <a:prstGeom prst="line">
            <a:avLst/>
          </a:prstGeom>
          <a:noFill/>
          <a:ln w="12700">
            <a:solidFill>
              <a:srgbClr val="3E6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a social-listening companion to the Ntachiosa comment dataset  •  Confidential — for internal use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NTACHIOSA  |  BRAND INTELLIGENCE REPORT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2026-08-03T07:00:20Z</dcterms:created>
  <dcterms:modified xsi:type="dcterms:W3CDTF">2026-08-03T07:00:20Z</dcterms:modified>
</cp:coreProperties>
</file>